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Playfair Display"/>
      <p:regular r:id="rId201314"/>
    </p:embeddedFont>
    <p:embeddedFont>
      <p:font typeface="Playfair Display SemiBold"/>
      <p:regular r:id="rId201315"/>
    </p:embeddedFont>
    <p:embeddedFont>
      <p:font typeface="Playfair Display Bold"/>
      <p:regular r:id="rId201316"/>
    </p:embeddedFont>
    <p:embeddedFont>
      <p:font typeface="Playfair Display Black"/>
      <p:regular r:id="rId201317"/>
    </p:embeddedFont>
    <p:embeddedFont>
      <p:font typeface="Public Sans"/>
      <p:regular r:id="rId201318"/>
    </p:embeddedFont>
    <p:embeddedFont>
      <p:font typeface="Public Sans SemiBold"/>
      <p:regular r:id="rId201319"/>
    </p:embeddedFont>
    <p:embeddedFont>
      <p:font typeface="Public Sans Bold"/>
      <p:regular r:id="rId201320"/>
    </p:embeddedFont>
    <p:embeddedFont>
      <p:font typeface="Public Sans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Analysis of 3,900 transactions across categories to reveal spending patterns, segments, product preferences, and subscription behavior to guide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304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Dataset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48631"/>
            <a:ext cx="1479724" cy="1733624"/>
          </a:xfrm>
          <a:prstGeom prst="roundRect">
            <a:avLst>
              <a:gd name="adj" fmla="val 4024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7780" dir="2700000">
              <a:srgbClr val="c7a8a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71640" y="1695152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Size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01664"/>
            <a:ext cx="1186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Rows: 3,900 · Columns: 18 · Missing: 37 values in Review Rating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46601" y="1548631"/>
            <a:ext cx="1479724" cy="1733624"/>
          </a:xfrm>
          <a:prstGeom prst="roundRect">
            <a:avLst>
              <a:gd name="adj" fmla="val 4024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17780" dir="2700000">
              <a:srgbClr val="b2aa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93122" y="1695152"/>
            <a:ext cx="1186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93122" y="2001664"/>
            <a:ext cx="1186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68083" y="1548631"/>
            <a:ext cx="1479724" cy="1733624"/>
          </a:xfrm>
          <a:prstGeom prst="roundRect">
            <a:avLst>
              <a:gd name="adj" fmla="val 4024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17780" dir="2700000">
              <a:srgbClr val="9ac0ca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4605" y="1695152"/>
            <a:ext cx="1186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4605" y="2223120"/>
            <a:ext cx="11866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Item, Category, Amount, Season, Size, Color, Shipping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424014"/>
            <a:ext cx="4722688" cy="826368"/>
          </a:xfrm>
          <a:prstGeom prst="roundRect">
            <a:avLst>
              <a:gd name="adj" fmla="val 7205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7780" dir="2700000">
              <a:srgbClr val="c7a8a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71640" y="3570536"/>
            <a:ext cx="44296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Behavior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71640" y="3877047"/>
            <a:ext cx="44296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Discounts, Promo use, Frequency, Previous purchases, Ratings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Exploratory Data Analysis (Python)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203396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Steps Taken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2397175"/>
            <a:ext cx="3902943" cy="1460004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Loaded data with pandas; inspected structure with df.info() and .describe()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Summarized key statistics: mean purchase ≈ $59.76; avg rating ≈ 3.75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Identified categorical top-values (e.g., Male, Blouse, Spring)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03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Data Preparation &amp; Feature Engineering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88778"/>
            <a:ext cx="2622724" cy="1905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97720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042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Imputed Review Rating nulls using category median.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88778"/>
            <a:ext cx="2622724" cy="1905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997720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Standardization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3042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Renamed columns to snake_case for consistency.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666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88778"/>
            <a:ext cx="2622724" cy="19050"/>
          </a:xfrm>
          <a:prstGeom prst="rect">
            <a:avLst/>
          </a:prstGeom>
          <a:solidFill>
            <a:srgbClr val="B4DAE4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997720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New Features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304231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Created age_group and purchase_frequency_days.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E1C2C2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Consistency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643238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Dropped promo_code_used after redundancy check with discount_applied.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227784"/>
            <a:ext cx="4004965" cy="19050"/>
          </a:xfrm>
          <a:prstGeom prst="rect">
            <a:avLst/>
          </a:prstGeom>
          <a:solidFill>
            <a:srgbClr val="CCC4EC"/>
          </a:solidFill>
          <a:ln/>
        </p:spPr>
      </p:sp>
      <p:sp>
        <p:nvSpPr>
          <p:cNvPr id="21" name="Text 19"/>
          <p:cNvSpPr/>
          <p:nvPr/>
        </p:nvSpPr>
        <p:spPr>
          <a:xfrm>
            <a:off x="4642842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643238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Loaded cleaned DataFrame into MySQL for SQL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Analysis — Revenue &amp; Behavior Highlights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32261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Revenue by Gender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95476"/>
            <a:ext cx="30854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Female: 75,191 · Male: 157,890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864048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Shipping Comparison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227263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Standard avg: $58.46 · Express avg: $60.48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150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Analysis — Products, Discounts &amp;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441525"/>
            <a:ext cx="571798" cy="5717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441525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Top Rated Items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748037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Gloves (3.86), Sandals (3.84), Boots (3.82), Hat (3.80), Skirt (3.78)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441525"/>
            <a:ext cx="571798" cy="5717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441525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Discount-Dependent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748037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Hat 50%, Sneakers 49.66%, Coat 49.07%, Sweater 48.17%, Pants 47.37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441525"/>
            <a:ext cx="571798" cy="5717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441525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Customer Segments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748037"/>
            <a:ext cx="18501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Loyal: 3,116 · Returning: 701 · New: 83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298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SQL Analysis — Sales &amp; Top Products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20329"/>
            <a:ext cx="30531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83544"/>
            <a:ext cx="3053135" cy="1289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Accessories: Jewelry, Sunglasses, Belt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Clothing: Blouse, Pants, Shirt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Footwear: Sandals, Shoes, Sneakers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Outerwear: Jacket, Coat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892" y="1338039"/>
            <a:ext cx="4752677" cy="3122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Repeat Buyers, Subscriptions &amp; Age Revenue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Subscribers vs Non-Subscribers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40334"/>
            <a:ext cx="3902943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Subscribers: 1,053 customers · Avg spend: $59.49 · Revenue: $62,645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Non-subscribers: 2,847 customers · Avg spend: $59.87 · Revenue: $170,436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1689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380110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Repeat buyers (&gt;5 purchases): Subscribed = 958 · Not subscribed = 2,518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49483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10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Interactive Dashboard (Power BI)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16719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a Power BI dashboard to visualize metrics, filters, and age/category trends for stakeholders.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24794"/>
            <a:ext cx="4761681" cy="25630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4009876"/>
            <a:ext cx="4021634" cy="721519"/>
          </a:xfrm>
          <a:prstGeom prst="roundRect">
            <a:avLst>
              <a:gd name="adj" fmla="val 7221"/>
            </a:avLst>
          </a:prstGeom>
          <a:solidFill>
            <a:srgbClr val="FFFAF6"/>
          </a:solidFill>
          <a:ln w="14288">
            <a:solidFill>
              <a:srgbClr val="E1C2C2"/>
            </a:solidFill>
            <a:prstDash val="solid"/>
          </a:ln>
          <a:effectLst>
            <a:outerShdw sx="100000" sy="100000" kx="0" ky="0" algn="bl" rotWithShape="0" blurRad="127" dist="15240" dir="2700000">
              <a:srgbClr val="e1c2c2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4380" y="4148138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380" y="4407098"/>
            <a:ext cx="37451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Customers: 3.9K · Avg Purchase: $59.76 · Avg Rating: 3.75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6248" y="4009876"/>
            <a:ext cx="4021634" cy="721519"/>
          </a:xfrm>
          <a:prstGeom prst="roundRect">
            <a:avLst>
              <a:gd name="adj" fmla="val 7221"/>
            </a:avLst>
          </a:prstGeom>
          <a:solidFill>
            <a:srgbClr val="FFFAF6"/>
          </a:solidFill>
          <a:ln w="14288">
            <a:solidFill>
              <a:srgbClr val="CCC4EC"/>
            </a:solidFill>
            <a:prstDash val="solid"/>
          </a:ln>
          <a:effectLst>
            <a:outerShdw sx="100000" sy="100000" kx="0" ky="0" algn="bl" rotWithShape="0" blurRad="127" dist="15240" dir="2700000">
              <a:srgbClr val="ccc4ec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64509" y="4148138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Subscription Mix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64509" y="4407098"/>
            <a:ext cx="374511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Yes 27% · No 73%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8281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4B698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Business Recommendations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25119" y="1046931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7780" dir="2700000">
              <a:srgbClr val="c7a8a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367064" y="1094110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367064" y="1388418"/>
            <a:ext cx="42808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Promote exclusive subscriber benefits to increase recurring revenue.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25119" y="2087091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CCC4EC">
              <a:alpha val="50000"/>
            </a:srgbClr>
          </a:solidFill>
          <a:ln w="4763">
            <a:solidFill>
              <a:srgbClr val="B2AAD2"/>
            </a:solidFill>
            <a:prstDash val="solid"/>
          </a:ln>
          <a:effectLst>
            <a:outerShdw sx="100000" sy="100000" kx="0" ky="0" algn="bl" rotWithShape="0" blurRad="127" dist="17780" dir="2700000">
              <a:srgbClr val="b2aa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367064" y="2134270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367064" y="2428577"/>
            <a:ext cx="428081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Reward repeat buyers to grow the "Loyal" segment and retention.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2910929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B4DAE4">
              <a:alpha val="50000"/>
            </a:srgbClr>
          </a:solidFill>
          <a:ln w="4763">
            <a:solidFill>
              <a:srgbClr val="9AC0CA"/>
            </a:solidFill>
            <a:prstDash val="solid"/>
          </a:ln>
          <a:effectLst>
            <a:outerShdw sx="100000" sy="100000" kx="0" ky="0" algn="bl" rotWithShape="0" blurRad="127" dist="17780" dir="2700000">
              <a:srgbClr val="9ac0ca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367064" y="2958108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67064" y="3252415"/>
            <a:ext cx="42808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Balance promotional lifts with margin control; target discount-dependent products.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25119" y="3951089"/>
            <a:ext cx="308967" cy="308967"/>
          </a:xfrm>
          <a:prstGeom prst="roundRect">
            <a:avLst>
              <a:gd name="adj" fmla="val 18669"/>
            </a:avLst>
          </a:prstGeom>
          <a:solidFill>
            <a:srgbClr val="E1C2C2">
              <a:alpha val="50000"/>
            </a:srgbClr>
          </a:solidFill>
          <a:ln w="4763">
            <a:solidFill>
              <a:srgbClr val="C7A8A8"/>
            </a:solidFill>
            <a:prstDash val="solid"/>
          </a:ln>
          <a:effectLst>
            <a:outerShdw sx="100000" sy="100000" kx="0" ky="0" algn="bl" rotWithShape="0" blurRad="127" dist="17780" dir="2700000">
              <a:srgbClr val="c7a8a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67064" y="3998268"/>
            <a:ext cx="428081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F655D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Product Positioning &amp; Targeting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367064" y="4292575"/>
            <a:ext cx="428081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6F655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Highlight top-rated and best-selling items; focus marketing on high-revenue age groups and express-shipping users.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2026-08-15T11:46:34Z</dcterms:created>
  <dcterms:modified xsi:type="dcterms:W3CDTF">2026-08-15T11:46:34Z</dcterms:modified>
</cp:coreProperties>
</file>